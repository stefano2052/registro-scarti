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92" r:id="rId2"/>
    <p:sldId id="609" r:id="rId3"/>
    <p:sldId id="610" r:id="rId11"/>
    <p:sldId id="611" r:id="rId12"/>
    <p:sldId id="612" r:id="rId13"/>
    <p:sldId id="613" r:id="rId14"/>
    <p:sldId id="614" r:id="rId15"/>
    <p:sldId id="608" r:id="rId4"/>
  </p:sldIdLst>
  <p:sldSz cx="12192000" cy="6858000"/>
  <p:notesSz cx="6735763" cy="98663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160444-3A0D-C083-1BC5-EB820CA993FB}" name="Stefano Ventilii" initials="SV" userId="0dad41b3716e974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18A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8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25ACE1-0790-4D8C-9C08-71A7F9E5CD14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0F579-AE62-4019-B603-5A21648FC3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0770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Punto di partenza della Settimana Kaizen: oggi gli scarti non sono tracciati negli stabilimenti di assemblaggio. Senza dati non possiamo misurare il fenomeno né intervenire in modo mirato. L'obiettivo è dotarci di uno strumento semplice per raccogliere questi dati.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Chiariamo il perché della scelta. In falegnameria (Ipiemme) c'è il MES e gli scarti si registrano lì. Gli stabilimenti di assemblaggio non hanno il MES e, da quanto ci è stato comunicato, anche in futuro il MES registrerà solo il codice finito, non i componenti. Per questo serve uno strumento dedicato, semplice e immediato.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Ecco la soluzione: una web app mobile, semplice da usare in reparto. I dati finiscono in un foglio Google strutturato, con le foto su Drive. Nessun costo di licenza. Partiamo come pilota in BB3 e l'idea è estenderla agli altri stabilimenti di assemblaggio, mantenendola finché il MES non coprirà anche i componenti.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schermata di registrazione è il cuore dell'app. L'operatore può scansionare il codice a barre dell'articolo: il sistema riconosce articolo e variante. Se non conosce il codice, può passare alla descrizione libera. Può allegare una o più foto dello scarto. Poi sceglie quantità, stabilimento, operatore e causale. Pochi tap, dati affidabili.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seconda sezione trasforma i dati in informazione. Il diagramma di Pareto ordina le causali di scarto dalla più frequente alla meno frequente, con la curva del cumulato. Possiamo filtrare per periodo e per stabilimento. Così individuiamo subito le poche cause che pesano di più e su cui conviene intervenire per primi.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sintesi i vantaggi: otteniamo tracciabilità dove prima non c'era; possiamo decidere sui dati grazie al Pareto; lo strumento è semplice e adatto al reparto; non ha costi di licenza perché usa Google; ed è la base concreta per il miglioramento continuo e la riduzione dei costi della non-qualità.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titolo">
    <p:bg>
      <p:bgPr>
        <a:gradFill>
          <a:gsLst>
            <a:gs pos="65000">
              <a:schemeClr val="accent1">
                <a:lumMod val="5000"/>
                <a:lumOff val="95000"/>
              </a:schemeClr>
            </a:gs>
            <a:gs pos="100000">
              <a:srgbClr val="0EB2B5">
                <a:lumMod val="17000"/>
                <a:lumOff val="83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75936A-215F-A6DA-DAFD-320B64B3D0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2708" y="2618351"/>
            <a:ext cx="11230707" cy="2128075"/>
          </a:xfrm>
        </p:spPr>
        <p:txBody>
          <a:bodyPr anchor="b">
            <a:normAutofit/>
          </a:bodyPr>
          <a:lstStyle>
            <a:lvl1pPr algn="ctr">
              <a:defRPr lang="it-IT" sz="7200" kern="12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it-IT" dirty="0"/>
              <a:t>Fare clic per modificare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7B4FAF1-F2DB-7D35-5206-A743227C0F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2708" y="4808977"/>
            <a:ext cx="11230707" cy="1059812"/>
          </a:xfrm>
        </p:spPr>
        <p:txBody>
          <a:bodyPr>
            <a:normAutofit/>
          </a:bodyPr>
          <a:lstStyle>
            <a:lvl1pPr marL="0" indent="0" algn="ctr">
              <a:buNone/>
              <a:defRPr lang="it-IT" sz="2400" kern="1200" spc="3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il sottotitolo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70282B8-3ADF-6E9B-D0FC-1BE6349309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19708" y="520039"/>
            <a:ext cx="2352584" cy="226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14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stazione sezione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FC485F-5DC9-792B-4262-60751EBA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35" y="4341184"/>
            <a:ext cx="10800000" cy="656946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C823CD2-E116-3A73-5061-40C3B20F2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35" y="5011456"/>
            <a:ext cx="10800000" cy="57680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DBFE831-1157-A8A7-A1F7-6CFA5FD0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817-F4F5-4B04-A4B7-C675CB241FD2}" type="slidenum">
              <a:rPr lang="it-IT" smtClean="0"/>
              <a:t>‹N›</a:t>
            </a:fld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86209CA-69BB-3C03-7592-763CB8A3506F}"/>
              </a:ext>
            </a:extLst>
          </p:cNvPr>
          <p:cNvSpPr/>
          <p:nvPr/>
        </p:nvSpPr>
        <p:spPr>
          <a:xfrm>
            <a:off x="0" y="0"/>
            <a:ext cx="12192000" cy="39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BD682AE3-2CAA-A7F4-E65B-2662D7236F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960000"/>
          </a:xfrm>
        </p:spPr>
        <p:txBody>
          <a:bodyPr/>
          <a:lstStyle/>
          <a:p>
            <a:r>
              <a:rPr lang="it-IT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325114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DBD810-610F-450B-4FF9-A83E9C9C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D4E32F-4DCD-F128-E6BD-3AFCE4C67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3E0E4A-9DEA-51EE-3638-546C5811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817-F4F5-4B04-A4B7-C675CB241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212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30A655-6A7B-AF39-2C58-98921D95C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5289363-C8C5-D976-7E8E-B189CB3E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817-F4F5-4B04-A4B7-C675CB241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886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178EE3-AFE9-DA2A-2C2B-0C35235D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E0A043-8F60-5EED-0F18-A294FF8B5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34720"/>
            <a:ext cx="5181600" cy="501331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FE9D8A9-6196-C6C9-4255-5BC383AE7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4720"/>
            <a:ext cx="5181600" cy="501331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CB3C2E9-C3F6-1E97-BA48-29DC4E50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817-F4F5-4B04-A4B7-C675CB241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8427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 a 2 con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178EE3-AFE9-DA2A-2C2B-0C35235D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CB3C2E9-C3F6-1E97-BA48-29DC4E50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817-F4F5-4B04-A4B7-C675CB241FD2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811B1B9-5C52-729A-048B-26FAB7407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2680" y="1206486"/>
            <a:ext cx="5400000" cy="32323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12" name="Segnaposto testo 9">
            <a:extLst>
              <a:ext uri="{FF2B5EF4-FFF2-40B4-BE49-F238E27FC236}">
                <a16:creationId xmlns:a16="http://schemas.microsoft.com/office/drawing/2014/main" id="{B39DE03B-266D-8406-8628-D42D8F5F1A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680" y="884197"/>
            <a:ext cx="5400000" cy="32228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it-IT" sz="2000" b="1" cap="small" baseline="0" dirty="0"/>
            </a:lvl1pPr>
          </a:lstStyle>
          <a:p>
            <a:pPr marL="0" lvl="0" indent="0" algn="ctr">
              <a:buNone/>
            </a:pPr>
            <a:r>
              <a:rPr lang="it-IT" dirty="0"/>
              <a:t>Riferimento/Storico</a:t>
            </a:r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1E9C2769-2622-1BF3-D630-366199B671CA}"/>
              </a:ext>
            </a:extLst>
          </p:cNvPr>
          <p:cNvCxnSpPr>
            <a:cxnSpLocks/>
          </p:cNvCxnSpPr>
          <p:nvPr/>
        </p:nvCxnSpPr>
        <p:spPr>
          <a:xfrm>
            <a:off x="592680" y="1206486"/>
            <a:ext cx="540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CB30FFDE-749E-81B7-2E04-AB3701F061E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48066" y="1206486"/>
            <a:ext cx="5400000" cy="32323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15" name="Segnaposto testo 9">
            <a:extLst>
              <a:ext uri="{FF2B5EF4-FFF2-40B4-BE49-F238E27FC236}">
                <a16:creationId xmlns:a16="http://schemas.microsoft.com/office/drawing/2014/main" id="{655F9B67-BD53-2A8B-A475-24502E9952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066" y="884197"/>
            <a:ext cx="5400000" cy="322289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 cap="small" baseline="0"/>
            </a:lvl1pPr>
          </a:lstStyle>
          <a:p>
            <a:pPr lvl="0"/>
            <a:r>
              <a:rPr lang="it-IT" dirty="0"/>
              <a:t>Risultato/Indicatore</a:t>
            </a: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AE842D0-9687-EAB0-A59F-D9780ED22DB5}"/>
              </a:ext>
            </a:extLst>
          </p:cNvPr>
          <p:cNvCxnSpPr>
            <a:cxnSpLocks/>
          </p:cNvCxnSpPr>
          <p:nvPr/>
        </p:nvCxnSpPr>
        <p:spPr>
          <a:xfrm>
            <a:off x="6148066" y="1206486"/>
            <a:ext cx="540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egnaposto testo 19">
            <a:extLst>
              <a:ext uri="{FF2B5EF4-FFF2-40B4-BE49-F238E27FC236}">
                <a16:creationId xmlns:a16="http://schemas.microsoft.com/office/drawing/2014/main" id="{9241A07D-C103-7E26-A830-892668569E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2138" y="4598988"/>
            <a:ext cx="10955337" cy="137481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2531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 a 3 con note">
    <p:bg>
      <p:bgPr>
        <a:gradFill>
          <a:gsLst>
            <a:gs pos="70000">
              <a:schemeClr val="accent1">
                <a:lumMod val="5000"/>
                <a:lumOff val="95000"/>
              </a:schemeClr>
            </a:gs>
            <a:gs pos="100000">
              <a:srgbClr val="0EB2B5">
                <a:lumMod val="17000"/>
                <a:lumOff val="83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178EE3-AFE9-DA2A-2C2B-0C35235D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CB3C2E9-C3F6-1E97-BA48-29DC4E50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817-F4F5-4B04-A4B7-C675CB241FD2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811B1B9-5C52-729A-048B-26FAB7407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2680" y="1186166"/>
            <a:ext cx="3251351" cy="325266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12" name="Segnaposto testo 9">
            <a:extLst>
              <a:ext uri="{FF2B5EF4-FFF2-40B4-BE49-F238E27FC236}">
                <a16:creationId xmlns:a16="http://schemas.microsoft.com/office/drawing/2014/main" id="{B39DE03B-266D-8406-8628-D42D8F5F1A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680" y="863877"/>
            <a:ext cx="3251351" cy="322289"/>
          </a:xfrm>
        </p:spPr>
        <p:txBody>
          <a:bodyPr anchor="b"/>
          <a:lstStyle>
            <a:lvl1pPr marL="0" indent="0" algn="ctr">
              <a:buNone/>
              <a:defRPr sz="2000" b="1" cap="small" baseline="0"/>
            </a:lvl1pPr>
          </a:lstStyle>
          <a:p>
            <a:pPr lvl="0"/>
            <a:r>
              <a:rPr lang="it-IT" dirty="0"/>
              <a:t>Riferimento/Storico</a:t>
            </a:r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1E9C2769-2622-1BF3-D630-366199B671CA}"/>
              </a:ext>
            </a:extLst>
          </p:cNvPr>
          <p:cNvCxnSpPr>
            <a:cxnSpLocks/>
          </p:cNvCxnSpPr>
          <p:nvPr/>
        </p:nvCxnSpPr>
        <p:spPr>
          <a:xfrm>
            <a:off x="592680" y="1186166"/>
            <a:ext cx="325135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CB30FFDE-749E-81B7-2E04-AB3701F061E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96124" y="1186166"/>
            <a:ext cx="3251351" cy="325266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15" name="Segnaposto testo 9">
            <a:extLst>
              <a:ext uri="{FF2B5EF4-FFF2-40B4-BE49-F238E27FC236}">
                <a16:creationId xmlns:a16="http://schemas.microsoft.com/office/drawing/2014/main" id="{655F9B67-BD53-2A8B-A475-24502E9952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96124" y="863877"/>
            <a:ext cx="3251351" cy="32228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it-IT" sz="2000" b="1" cap="small" baseline="0" dirty="0"/>
            </a:lvl1pPr>
          </a:lstStyle>
          <a:p>
            <a:pPr marL="0" lvl="0" indent="0" algn="ctr">
              <a:buNone/>
            </a:pPr>
            <a:r>
              <a:rPr lang="it-IT" dirty="0"/>
              <a:t>Obiettivo/Proiezione</a:t>
            </a: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AE842D0-9687-EAB0-A59F-D9780ED22DB5}"/>
              </a:ext>
            </a:extLst>
          </p:cNvPr>
          <p:cNvCxnSpPr>
            <a:cxnSpLocks/>
          </p:cNvCxnSpPr>
          <p:nvPr/>
        </p:nvCxnSpPr>
        <p:spPr>
          <a:xfrm>
            <a:off x="8296124" y="1186166"/>
            <a:ext cx="325135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egnaposto testo 19">
            <a:extLst>
              <a:ext uri="{FF2B5EF4-FFF2-40B4-BE49-F238E27FC236}">
                <a16:creationId xmlns:a16="http://schemas.microsoft.com/office/drawing/2014/main" id="{9241A07D-C103-7E26-A830-892668569E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2138" y="4598988"/>
            <a:ext cx="10955337" cy="139513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950E7339-D893-570D-74E5-AFF63ADE7D84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444402" y="1186166"/>
            <a:ext cx="3251351" cy="325266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22" name="Segnaposto testo 9">
            <a:extLst>
              <a:ext uri="{FF2B5EF4-FFF2-40B4-BE49-F238E27FC236}">
                <a16:creationId xmlns:a16="http://schemas.microsoft.com/office/drawing/2014/main" id="{44EBA2DF-5F74-A502-879D-1FC748E36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44402" y="863877"/>
            <a:ext cx="3251351" cy="32228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it-IT" sz="2000" b="1" cap="small" baseline="0" dirty="0"/>
            </a:lvl1pPr>
          </a:lstStyle>
          <a:p>
            <a:pPr marL="0" lvl="0" indent="0" algn="ctr">
              <a:buNone/>
            </a:pPr>
            <a:r>
              <a:rPr lang="it-IT" dirty="0"/>
              <a:t>Risultato/Indicatore</a:t>
            </a: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5263EFAB-A0B3-F877-9CBC-0B38BE4E05B0}"/>
              </a:ext>
            </a:extLst>
          </p:cNvPr>
          <p:cNvCxnSpPr>
            <a:cxnSpLocks/>
          </p:cNvCxnSpPr>
          <p:nvPr/>
        </p:nvCxnSpPr>
        <p:spPr>
          <a:xfrm>
            <a:off x="4444402" y="1186166"/>
            <a:ext cx="325135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04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ma e do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178EE3-AFE9-DA2A-2C2B-0C35235D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E0A043-8F60-5EED-0F18-A294FF8B5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340" y="1304931"/>
            <a:ext cx="5400000" cy="4522098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CB3C2E9-C3F6-1E97-BA48-29DC4E50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603D2817-F4F5-4B04-A4B7-C675CB241FD2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4FE27FC4-8644-3149-014C-20EBF9182D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6340" y="833397"/>
            <a:ext cx="5400000" cy="415925"/>
          </a:xfrm>
        </p:spPr>
        <p:txBody>
          <a:bodyPr anchor="b"/>
          <a:lstStyle>
            <a:lvl1pPr marL="0" indent="0" algn="ctr">
              <a:buNone/>
              <a:defRPr sz="2000" b="1" cap="small" baseline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Prima/AS IS/Riferimento</a:t>
            </a:r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0EE7232-127E-8DA2-092B-B8CE67EA7E11}"/>
              </a:ext>
            </a:extLst>
          </p:cNvPr>
          <p:cNvCxnSpPr>
            <a:cxnSpLocks/>
          </p:cNvCxnSpPr>
          <p:nvPr/>
        </p:nvCxnSpPr>
        <p:spPr>
          <a:xfrm>
            <a:off x="326340" y="1277126"/>
            <a:ext cx="540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BD3755AC-A827-E659-C1E3-662DA43C01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432162" y="1304931"/>
            <a:ext cx="5400000" cy="4522098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9BE4A195-46B3-ED68-A010-95328372C5A1}"/>
              </a:ext>
            </a:extLst>
          </p:cNvPr>
          <p:cNvCxnSpPr>
            <a:cxnSpLocks/>
          </p:cNvCxnSpPr>
          <p:nvPr/>
        </p:nvCxnSpPr>
        <p:spPr>
          <a:xfrm>
            <a:off x="6432162" y="1277126"/>
            <a:ext cx="540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igura a mano libera: forma 16">
            <a:extLst>
              <a:ext uri="{FF2B5EF4-FFF2-40B4-BE49-F238E27FC236}">
                <a16:creationId xmlns:a16="http://schemas.microsoft.com/office/drawing/2014/main" id="{84D4A9C9-71E7-0DBB-D33F-F03E280B811B}"/>
              </a:ext>
            </a:extLst>
          </p:cNvPr>
          <p:cNvSpPr/>
          <p:nvPr/>
        </p:nvSpPr>
        <p:spPr>
          <a:xfrm>
            <a:off x="5805487" y="2910841"/>
            <a:ext cx="581025" cy="360680"/>
          </a:xfrm>
          <a:custGeom>
            <a:avLst/>
            <a:gdLst>
              <a:gd name="connsiteX0" fmla="*/ 0 w 581025"/>
              <a:gd name="connsiteY0" fmla="*/ 487433 h 487433"/>
              <a:gd name="connsiteX1" fmla="*/ 171450 w 581025"/>
              <a:gd name="connsiteY1" fmla="*/ 401708 h 487433"/>
              <a:gd name="connsiteX2" fmla="*/ 438150 w 581025"/>
              <a:gd name="connsiteY2" fmla="*/ 49283 h 487433"/>
              <a:gd name="connsiteX3" fmla="*/ 581025 w 581025"/>
              <a:gd name="connsiteY3" fmla="*/ 11183 h 487433"/>
              <a:gd name="connsiteX0" fmla="*/ 0 w 581025"/>
              <a:gd name="connsiteY0" fmla="*/ 478098 h 478098"/>
              <a:gd name="connsiteX1" fmla="*/ 171450 w 581025"/>
              <a:gd name="connsiteY1" fmla="*/ 392373 h 478098"/>
              <a:gd name="connsiteX2" fmla="*/ 361950 w 581025"/>
              <a:gd name="connsiteY2" fmla="*/ 116148 h 478098"/>
              <a:gd name="connsiteX3" fmla="*/ 581025 w 581025"/>
              <a:gd name="connsiteY3" fmla="*/ 1848 h 478098"/>
              <a:gd name="connsiteX0" fmla="*/ 0 w 581025"/>
              <a:gd name="connsiteY0" fmla="*/ 476251 h 476251"/>
              <a:gd name="connsiteX1" fmla="*/ 171450 w 581025"/>
              <a:gd name="connsiteY1" fmla="*/ 390526 h 476251"/>
              <a:gd name="connsiteX2" fmla="*/ 361950 w 581025"/>
              <a:gd name="connsiteY2" fmla="*/ 114301 h 476251"/>
              <a:gd name="connsiteX3" fmla="*/ 581025 w 581025"/>
              <a:gd name="connsiteY3" fmla="*/ 1 h 47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025" h="476251">
                <a:moveTo>
                  <a:pt x="0" y="476251"/>
                </a:moveTo>
                <a:cubicBezTo>
                  <a:pt x="49212" y="469901"/>
                  <a:pt x="111125" y="450851"/>
                  <a:pt x="171450" y="390526"/>
                </a:cubicBezTo>
                <a:cubicBezTo>
                  <a:pt x="231775" y="330201"/>
                  <a:pt x="293688" y="179388"/>
                  <a:pt x="361950" y="114301"/>
                </a:cubicBezTo>
                <a:cubicBezTo>
                  <a:pt x="430212" y="49214"/>
                  <a:pt x="536098" y="-158"/>
                  <a:pt x="581025" y="1"/>
                </a:cubicBezTo>
              </a:path>
            </a:pathLst>
          </a:custGeom>
          <a:noFill/>
          <a:ln w="50800">
            <a:solidFill>
              <a:schemeClr val="accent1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Segnaposto testo 9">
            <a:extLst>
              <a:ext uri="{FF2B5EF4-FFF2-40B4-BE49-F238E27FC236}">
                <a16:creationId xmlns:a16="http://schemas.microsoft.com/office/drawing/2014/main" id="{64CFA4D9-6870-CEA5-390A-DC6AD40CC7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2162" y="833397"/>
            <a:ext cx="5400000" cy="415925"/>
          </a:xfrm>
        </p:spPr>
        <p:txBody>
          <a:bodyPr anchor="b"/>
          <a:lstStyle>
            <a:lvl1pPr marL="0" indent="0" algn="ctr">
              <a:buNone/>
              <a:defRPr sz="2000" b="1" cap="small" baseline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Dopo/TO BE/Adesso</a:t>
            </a:r>
          </a:p>
        </p:txBody>
      </p:sp>
    </p:spTree>
    <p:extLst>
      <p:ext uri="{BB962C8B-B14F-4D97-AF65-F5344CB8AC3E}">
        <p14:creationId xmlns:p14="http://schemas.microsoft.com/office/powerpoint/2010/main" val="1348485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 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178EE3-AFE9-DA2A-2C2B-0C35235D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CB3C2E9-C3F6-1E97-BA48-29DC4E50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817-F4F5-4B04-A4B7-C675CB241FD2}" type="slidenum">
              <a:rPr lang="it-IT" smtClean="0"/>
              <a:t>‹N›</a:t>
            </a:fld>
            <a:endParaRPr lang="it-IT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FD134C3-94B0-59A9-3A12-086191243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2680" y="1241750"/>
            <a:ext cx="5400000" cy="480277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72FCD681-B560-853E-D0EA-AB6CB83B9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680" y="798021"/>
            <a:ext cx="5400000" cy="415925"/>
          </a:xfrm>
        </p:spPr>
        <p:txBody>
          <a:bodyPr anchor="b"/>
          <a:lstStyle>
            <a:lvl1pPr marL="0" indent="0" algn="ctr">
              <a:buNone/>
              <a:defRPr sz="2000" b="1" cap="small" baseline="0"/>
            </a:lvl1pPr>
          </a:lstStyle>
          <a:p>
            <a:pPr lvl="0"/>
            <a:r>
              <a:rPr lang="it-IT" dirty="0"/>
              <a:t>Prima/AS IS/Riferimento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EB2B1311-30F5-D850-35B6-CEC8FC9D82F1}"/>
              </a:ext>
            </a:extLst>
          </p:cNvPr>
          <p:cNvCxnSpPr>
            <a:cxnSpLocks/>
          </p:cNvCxnSpPr>
          <p:nvPr/>
        </p:nvCxnSpPr>
        <p:spPr>
          <a:xfrm>
            <a:off x="592680" y="1241750"/>
            <a:ext cx="540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F93F53C6-DA1F-113E-BD7E-AF7E8DF193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48066" y="1241750"/>
            <a:ext cx="5400000" cy="48027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17" name="Segnaposto testo 9">
            <a:extLst>
              <a:ext uri="{FF2B5EF4-FFF2-40B4-BE49-F238E27FC236}">
                <a16:creationId xmlns:a16="http://schemas.microsoft.com/office/drawing/2014/main" id="{12554361-2D48-5CA1-3CE4-3882B46B95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066" y="798021"/>
            <a:ext cx="5400000" cy="415925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 cap="small" baseline="0"/>
            </a:lvl1pPr>
          </a:lstStyle>
          <a:p>
            <a:pPr lvl="0"/>
            <a:r>
              <a:rPr lang="it-IT" dirty="0"/>
              <a:t>Dopo/TO BE/Adesso</a:t>
            </a:r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0F3B4C3F-65B2-D630-7F06-8FE20A070BEC}"/>
              </a:ext>
            </a:extLst>
          </p:cNvPr>
          <p:cNvCxnSpPr>
            <a:cxnSpLocks/>
          </p:cNvCxnSpPr>
          <p:nvPr/>
        </p:nvCxnSpPr>
        <p:spPr>
          <a:xfrm>
            <a:off x="6148066" y="1241750"/>
            <a:ext cx="540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439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 con com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178EE3-AFE9-DA2A-2C2B-0C35235D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E0A043-8F60-5EED-0F18-A294FF8B5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4185" y="863600"/>
            <a:ext cx="6915705" cy="511529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FE9D8A9-6196-C6C9-4255-5BC383AE7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61934" y="1279525"/>
            <a:ext cx="4613428" cy="4714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CB3C2E9-C3F6-1E97-BA48-29DC4E50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817-F4F5-4B04-A4B7-C675CB241FD2}" type="slidenum">
              <a:rPr lang="it-IT" smtClean="0"/>
              <a:t>‹N›</a:t>
            </a:fld>
            <a:endParaRPr lang="it-IT"/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4DDD210F-D8BB-09B3-C15E-79AFCC07B1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1934" y="863600"/>
            <a:ext cx="4613428" cy="415925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1" cap="small" baseline="0"/>
            </a:lvl1pPr>
          </a:lstStyle>
          <a:p>
            <a:pPr lvl="0"/>
            <a:r>
              <a:rPr lang="it-IT" dirty="0"/>
              <a:t>Commenti</a:t>
            </a:r>
          </a:p>
        </p:txBody>
      </p:sp>
    </p:spTree>
    <p:extLst>
      <p:ext uri="{BB962C8B-B14F-4D97-AF65-F5344CB8AC3E}">
        <p14:creationId xmlns:p14="http://schemas.microsoft.com/office/powerpoint/2010/main" val="2849914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DFFF70-DFAD-23CB-F2E1-4D5D51F3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817-F4F5-4B04-A4B7-C675CB241FD2}" type="slidenum">
              <a:rPr lang="it-IT" smtClean="0"/>
              <a:t>‹N›</a:t>
            </a:fld>
            <a:endParaRPr lang="it-IT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1325589-0B72-5163-7653-E8E6DDE8E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23" y="6232424"/>
            <a:ext cx="1499932" cy="43359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4A27D4AC-2338-AE7E-5475-75F62D7387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4287" y="6067676"/>
            <a:ext cx="739896" cy="65379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557E8A3-459C-693C-5BF0-EB5C5094A93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392" r="51611" b="7648"/>
          <a:stretch/>
        </p:blipFill>
        <p:spPr>
          <a:xfrm>
            <a:off x="7247899" y="1"/>
            <a:ext cx="49441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35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81A485-93EE-6BCE-2C06-87F9C083D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DA4BDE-AD49-A10F-2F6D-BD51C552F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0"/>
            <a:ext cx="7008812" cy="61877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19DA3F9-68DA-365E-4F46-696E668B2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0BFB242-422E-C98B-03FB-59872F18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817-F4F5-4B04-A4B7-C675CB241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3928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azie">
    <p:bg>
      <p:bgPr>
        <a:solidFill>
          <a:srgbClr val="0EB2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2">
            <a:extLst>
              <a:ext uri="{FF2B5EF4-FFF2-40B4-BE49-F238E27FC236}">
                <a16:creationId xmlns:a16="http://schemas.microsoft.com/office/drawing/2014/main" id="{628B0438-5846-3A19-9E8A-40DE9DDC5FFF}"/>
              </a:ext>
            </a:extLst>
          </p:cNvPr>
          <p:cNvSpPr txBox="1">
            <a:spLocks/>
          </p:cNvSpPr>
          <p:nvPr/>
        </p:nvSpPr>
        <p:spPr>
          <a:xfrm>
            <a:off x="3151012" y="5996535"/>
            <a:ext cx="5889976" cy="782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 err="1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semprinigroup.it</a:t>
            </a:r>
            <a:r>
              <a:rPr lang="it-IT" sz="20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it-IT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9C2A4C4-3967-13DA-33AB-0B0248D0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07" y="1836187"/>
            <a:ext cx="1463386" cy="1293091"/>
          </a:xfrm>
          <a:prstGeom prst="rect">
            <a:avLst/>
          </a:prstGeom>
        </p:spPr>
      </p:pic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C09F2ACC-B406-0E0C-7888-D7CE0EF972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83636" y="3429000"/>
            <a:ext cx="7224728" cy="782955"/>
          </a:xfrm>
        </p:spPr>
        <p:txBody>
          <a:bodyPr>
            <a:noAutofit/>
          </a:bodyPr>
          <a:lstStyle>
            <a:lvl1pPr marL="0" indent="0" algn="ctr">
              <a:buNone/>
              <a:defRPr sz="3600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3200" i="1">
                <a:solidFill>
                  <a:schemeClr val="accent1"/>
                </a:solidFill>
              </a:defRPr>
            </a:lvl2pPr>
            <a:lvl3pPr marL="914400" indent="0" algn="ctr">
              <a:buNone/>
              <a:defRPr sz="2800" i="1">
                <a:solidFill>
                  <a:schemeClr val="accent1"/>
                </a:solidFill>
              </a:defRPr>
            </a:lvl3pPr>
            <a:lvl4pPr marL="1371600" indent="0" algn="ctr">
              <a:buNone/>
              <a:defRPr sz="2400" i="1">
                <a:solidFill>
                  <a:schemeClr val="accent1"/>
                </a:solidFill>
              </a:defRPr>
            </a:lvl4pPr>
            <a:lvl5pPr marL="1828800" indent="0" algn="ctr">
              <a:buNone/>
              <a:defRPr sz="2400" i="1">
                <a:solidFill>
                  <a:schemeClr val="accent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828644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emf"/><Relationship Id="rId16" Type="http://schemas.openxmlformats.org/officeDocument/2006/relationships/image" Target="../media/image2.emf"/><Relationship Id="rId17" Type="http://schemas.openxmlformats.org/officeDocument/2006/relationships/image" Target="../media/image3.png"/><Relationship Id="rId18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65000">
              <a:schemeClr val="accent1">
                <a:lumMod val="5000"/>
                <a:lumOff val="95000"/>
              </a:schemeClr>
            </a:gs>
            <a:gs pos="100000">
              <a:srgbClr val="0EB2B5">
                <a:lumMod val="17000"/>
                <a:lumOff val="83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3482F3-6824-ACD7-E6B3-B42FA0E79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216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603D2817-F4F5-4B04-A4B7-C675CB241FD2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4F20A27-0F82-04FC-DEB1-F2554D8DCE5C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392" r="51611" b="7648"/>
          <a:stretch/>
        </p:blipFill>
        <p:spPr>
          <a:xfrm>
            <a:off x="7247899" y="1"/>
            <a:ext cx="4944101" cy="6858000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76282DC-E024-2A1A-2B02-2ABB9FDA3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07" y="136525"/>
            <a:ext cx="11644454" cy="58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0EFF0D2-7982-A6E6-039C-4B975E90EF5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1023" y="6232424"/>
            <a:ext cx="1499932" cy="433590"/>
          </a:xfrm>
          <a:prstGeom prst="rect">
            <a:avLst/>
          </a:prstGeom>
        </p:spPr>
      </p:pic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E3A95E5-BDC0-C865-EC11-E40C059B2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0910" y="856525"/>
            <a:ext cx="11644454" cy="5074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6742F10-601E-BFA8-8394-CBEF3832827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4287" y="6067676"/>
            <a:ext cx="739896" cy="653799"/>
          </a:xfrm>
          <a:prstGeom prst="rect">
            <a:avLst/>
          </a:prstGeom>
        </p:spPr>
      </p:pic>
      <p:pic>
        <p:nvPicPr>
          <p:cNvPr id="5" name="Immagine 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F340B02F-60AD-BCDF-D1CF-730519BB445C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860" y="6203037"/>
            <a:ext cx="2330942" cy="38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9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4" r:id="rId4"/>
    <p:sldLayoutId id="2147483652" r:id="rId5"/>
    <p:sldLayoutId id="2147483664" r:id="rId6"/>
    <p:sldLayoutId id="2147483665" r:id="rId7"/>
    <p:sldLayoutId id="2147483662" r:id="rId8"/>
    <p:sldLayoutId id="2147483663" r:id="rId9"/>
    <p:sldLayoutId id="2147483660" r:id="rId10"/>
    <p:sldLayoutId id="2147483655" r:id="rId11"/>
    <p:sldLayoutId id="2147483656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it-IT" sz="3600" kern="1200" dirty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D4FF70-74B0-E6A6-2D87-2FC007FCAC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Settimana </a:t>
            </a:r>
            <a:r>
              <a:rPr lang="it-IT" dirty="0" err="1"/>
              <a:t>Kaizen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0BE7E3-DA51-263B-EFAE-6888F86A3D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App Registro Scarti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BF01DEC-5C84-FB2F-ECAC-A57AB655FEE9}"/>
              </a:ext>
            </a:extLst>
          </p:cNvPr>
          <p:cNvSpPr txBox="1"/>
          <p:nvPr/>
        </p:nvSpPr>
        <p:spPr>
          <a:xfrm>
            <a:off x="377977" y="6185648"/>
            <a:ext cx="1236236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it-IT" dirty="0"/>
              <a:t>26/05/2026</a:t>
            </a:r>
          </a:p>
        </p:txBody>
      </p:sp>
      <p:pic>
        <p:nvPicPr>
          <p:cNvPr id="5" name="Immagine 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89F5171C-7291-8319-624F-A42EDE5EDA8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1397" y="5802452"/>
            <a:ext cx="3889206" cy="63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3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70C97D-1DDE-D5DF-36E8-BA07D929B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z="3000">
                <a:solidFill>
                  <a:srgbClr val="12418A"/>
                </a:solidFill>
              </a:rPr>
              <a:t>Il problema: gli scarti non sono tracciati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004719-38A3-AFF5-CED6-EF0DBB99A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12418A"/>
                </a:solidFill>
              </a:rPr>
              <a:t>Oggi negli stabilimenti di assemblaggio gli scarti di produzione non vengono registrati.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Senza dati non sappiamo quanto si scarta, dove e — soprattutto — perché.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Senza misura non è possibile dare priorità agli interventi né ridurre gli sprechi.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Manca una base oggettiva per il miglioramento continuo (logica Kaizen) e per ridurre i costi della non-qualità.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8309F8-483B-3DAD-AC53-15FB77C2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817-F4F5-4B04-A4B7-C675CB241FD2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441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0826279F-923D-7AED-5805-60AE199410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it-IT" dirty="0"/>
              <a:t>Grazie!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2A46D2-A442-B1B5-DFAA-905017A93D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603D2817-F4F5-4B04-A4B7-C675CB241FD2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0068434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000">
                <a:solidFill>
                  <a:srgbClr val="12418A"/>
                </a:solidFill>
              </a:rPr>
              <a:t>Perché una web app e non (solo) il 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La falegnameria Ipiemme ha il MES: lì gli scarti vengono già registrati a sistema.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Gli stabilimenti di assemblaggio (Ipiemme, BB1, BB3) oggi non hanno il MES.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Anche quando lo avranno, potranno registrare solo lo scarto del codice finito, non dei singoli componenti.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900" b="1">
                <a:solidFill>
                  <a:srgbClr val="12418A"/>
                </a:solidFill>
              </a:rPr>
              <a:t>Serve quindi uno strumento semplice e subito disponibile, capace di tracciare anche lo scarto dei componenti.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000">
                <a:solidFill>
                  <a:srgbClr val="12418A"/>
                </a:solidFill>
              </a:rPr>
              <a:t>La soluzione: App Registro Scarti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12418A"/>
                </a:solidFill>
              </a:rPr>
              <a:t>Una web app mobile per registrare gli scarti direttamente in reparto, da smartphone o tablet.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Dati raccolti in modo strutturato in un foglio Google, con foto dello scarto allegate.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Installabile come app (PWA), senza costi di licenza: si appoggia a Google Fogli e Drive.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Progetto pilota in BB3, con l'obiettivo di estenderlo agli altri stabilimenti di assemblaggio.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Resterà in uso finché il MES non gestirà anche lo scarto dei componenti: un ponte verso il futuro.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2418A"/>
                </a:solidFill>
              </a:rPr>
              <a:t>Funzionalità chiave: registrazione dello scarto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17320"/>
            <a:ext cx="6766560" cy="493776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Scansione del codice a barre: compila in automatico articolo e variante.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In alternativa, modalità “descrizione libera” per chi non conosce il codice.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Foto dello scarto da galleria o fotocamera, salvate insieme al record.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Quantità, stabilimento, operatore e causale selezionabili in pochi tap.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Controlli sui dati e conferma immediata: registrazioni pulite e affidabili.</a:t>
            </a:r>
          </a:p>
        </p:txBody>
      </p:sp>
      <p:pic>
        <p:nvPicPr>
          <p:cNvPr id="4" name="Picture 3" descr="mock_regis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868680"/>
            <a:ext cx="248196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2418A"/>
                </a:solidFill>
              </a:rPr>
              <a:t>Analisi: KPI e diagramma di Pareto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54480"/>
            <a:ext cx="7040880" cy="4572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12418A"/>
                </a:solidFill>
              </a:rPr>
              <a:t>Diagramma di Pareto degli scarti per causale: mette in evidenza le cause principali.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Filtri per periodo (settimana, mese, anno o personalizzato) e per stabilimento.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Totale dei pezzi scartati nel periodo e curva del cumulato percentuale.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Aiuta a concentrarsi sul 20% delle cause che genera l'80% degli scarti.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Dalla raccolta dati all'azione: priorità di intervento chiare e condivise.</a:t>
            </a:r>
          </a:p>
        </p:txBody>
      </p:sp>
      <p:pic>
        <p:nvPicPr>
          <p:cNvPr id="4" name="Picture 3" descr="mock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417320"/>
            <a:ext cx="3284749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000">
                <a:solidFill>
                  <a:srgbClr val="12418A"/>
                </a:solidFill>
              </a:rPr>
              <a:t>Vantaggi e 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Tracciabilità degli scarti dove oggi non esiste.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Decisioni basate sui dati: priorità di intervento chiare grazie all'analisi di Pareto.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Strumento semplice e veloce, pensato per l'uso in reparto: mobile, scansione e foto.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2F2F2F"/>
                </a:solidFill>
              </a:rPr>
              <a:t>Nessun costo di licenza: si basa su strumenti Google già in uso (Fogli e Drive).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900" b="1">
                <a:solidFill>
                  <a:srgbClr val="12418A"/>
                </a:solidFill>
              </a:rPr>
              <a:t>Punto di partenza per il miglioramento continuo e per ridurre i costi della non-qualità.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Template Semprini v3">
  <a:themeElements>
    <a:clrScheme name="Personalizzato 4">
      <a:dk1>
        <a:srgbClr val="000000"/>
      </a:dk1>
      <a:lt1>
        <a:sysClr val="window" lastClr="FFFFFF"/>
      </a:lt1>
      <a:dk2>
        <a:srgbClr val="000000"/>
      </a:dk2>
      <a:lt2>
        <a:srgbClr val="ACCBF9"/>
      </a:lt2>
      <a:accent1>
        <a:srgbClr val="12418A"/>
      </a:accent1>
      <a:accent2>
        <a:srgbClr val="00B1BD"/>
      </a:accent2>
      <a:accent3>
        <a:srgbClr val="80D791"/>
      </a:accent3>
      <a:accent4>
        <a:srgbClr val="FCF0B1"/>
      </a:accent4>
      <a:accent5>
        <a:srgbClr val="F8731D"/>
      </a:accent5>
      <a:accent6>
        <a:srgbClr val="A8EACC"/>
      </a:accent6>
      <a:hlink>
        <a:srgbClr val="9454C3"/>
      </a:hlink>
      <a:folHlink>
        <a:srgbClr val="3EBBF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 Template Semprini v3" id="{CD5D287F-CE45-4484-A13E-65ECAD729DA5}" vid="{D0B29DB2-92E2-4415-B202-210BA32AEEB2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B4D24AC-396C-4399-8C54-49D067DB3BCB}">
  <we:reference id="wa200010001" version="1.0.0.0" store="en-US" storeType="OMEX"/>
  <we:alternateReferences>
    <we:reference id="WA200010001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Tema Template Semprini v3</Template>
  <TotalTime>10015</TotalTime>
  <Words>133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Verdana</vt:lpstr>
      <vt:lpstr>Tema Template Semprini v3</vt:lpstr>
      <vt:lpstr>Settimana Kaizen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Settimana Kaizen</dc:title>
  <dc:creator>Stefano Ventilii</dc:creator>
  <cp:lastModifiedBy>Stefano Ventilii</cp:lastModifiedBy>
  <cp:revision>136</cp:revision>
  <cp:lastPrinted>2024-03-01T09:46:09Z</cp:lastPrinted>
  <dcterms:created xsi:type="dcterms:W3CDTF">2024-02-15T11:07:29Z</dcterms:created>
  <dcterms:modified xsi:type="dcterms:W3CDTF">2026-05-26T09:54:18Z</dcterms:modified>
</cp:coreProperties>
</file>